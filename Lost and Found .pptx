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DAA70-1FE0-4E63-99EF-37A4736D0A30}" v="148" dt="2025-09-05T05:10:33.8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da Lade" userId="ed5a3044622d2dbc" providerId="LiveId" clId="{55955817-4FFB-4120-8145-56ABB405F3D8}"/>
    <pc:docChg chg="undo redo custSel addSld modSld">
      <pc:chgData name="Shubda Lade" userId="ed5a3044622d2dbc" providerId="LiveId" clId="{55955817-4FFB-4120-8145-56ABB405F3D8}" dt="2025-09-05T05:38:16.313" v="17" actId="1076"/>
      <pc:docMkLst>
        <pc:docMk/>
      </pc:docMkLst>
      <pc:sldChg chg="addSp delSp mod">
        <pc:chgData name="Shubda Lade" userId="ed5a3044622d2dbc" providerId="LiveId" clId="{55955817-4FFB-4120-8145-56ABB405F3D8}" dt="2025-09-05T05:37:23.611" v="1" actId="478"/>
        <pc:sldMkLst>
          <pc:docMk/>
          <pc:sldMk cId="2085687994" sldId="266"/>
        </pc:sldMkLst>
        <pc:picChg chg="add del">
          <ac:chgData name="Shubda Lade" userId="ed5a3044622d2dbc" providerId="LiveId" clId="{55955817-4FFB-4120-8145-56ABB405F3D8}" dt="2025-09-05T05:37:23.611" v="1" actId="478"/>
          <ac:picMkLst>
            <pc:docMk/>
            <pc:sldMk cId="2085687994" sldId="266"/>
            <ac:picMk id="3" creationId="{C7665EEA-D996-6C4B-827A-0C8F1C052E3D}"/>
          </ac:picMkLst>
        </pc:picChg>
      </pc:sldChg>
      <pc:sldChg chg="addSp delSp modSp add mod">
        <pc:chgData name="Shubda Lade" userId="ed5a3044622d2dbc" providerId="LiveId" clId="{55955817-4FFB-4120-8145-56ABB405F3D8}" dt="2025-09-05T05:38:16.313" v="17" actId="1076"/>
        <pc:sldMkLst>
          <pc:docMk/>
          <pc:sldMk cId="1299420377" sldId="267"/>
        </pc:sldMkLst>
        <pc:spChg chg="del">
          <ac:chgData name="Shubda Lade" userId="ed5a3044622d2dbc" providerId="LiveId" clId="{55955817-4FFB-4120-8145-56ABB405F3D8}" dt="2025-09-05T05:37:33.773" v="4" actId="478"/>
          <ac:spMkLst>
            <pc:docMk/>
            <pc:sldMk cId="1299420377" sldId="267"/>
            <ac:spMk id="11" creationId="{7A08AEB0-B837-AA8B-D301-F95C80D16803}"/>
          </ac:spMkLst>
        </pc:spChg>
        <pc:spChg chg="del">
          <ac:chgData name="Shubda Lade" userId="ed5a3044622d2dbc" providerId="LiveId" clId="{55955817-4FFB-4120-8145-56ABB405F3D8}" dt="2025-09-05T05:37:37.436" v="5" actId="478"/>
          <ac:spMkLst>
            <pc:docMk/>
            <pc:sldMk cId="1299420377" sldId="267"/>
            <ac:spMk id="12" creationId="{32C6CA5C-0A34-7800-3686-4BD6FA3A8CD4}"/>
          </ac:spMkLst>
        </pc:spChg>
        <pc:spChg chg="add del">
          <ac:chgData name="Shubda Lade" userId="ed5a3044622d2dbc" providerId="LiveId" clId="{55955817-4FFB-4120-8145-56ABB405F3D8}" dt="2025-09-05T05:37:48.529" v="12" actId="22"/>
          <ac:spMkLst>
            <pc:docMk/>
            <pc:sldMk cId="1299420377" sldId="267"/>
            <ac:spMk id="13" creationId="{86366D47-7A3E-68F7-BAD5-7D475331DC50}"/>
          </ac:spMkLst>
        </pc:spChg>
        <pc:spChg chg="add mod">
          <ac:chgData name="Shubda Lade" userId="ed5a3044622d2dbc" providerId="LiveId" clId="{55955817-4FFB-4120-8145-56ABB405F3D8}" dt="2025-09-05T05:38:16.313" v="17" actId="1076"/>
          <ac:spMkLst>
            <pc:docMk/>
            <pc:sldMk cId="1299420377" sldId="267"/>
            <ac:spMk id="15" creationId="{19649456-F898-E04E-72D1-08FCE800C703}"/>
          </ac:spMkLst>
        </pc:spChg>
        <pc:picChg chg="del">
          <ac:chgData name="Shubda Lade" userId="ed5a3044622d2dbc" providerId="LiveId" clId="{55955817-4FFB-4120-8145-56ABB405F3D8}" dt="2025-09-05T05:37:30.722" v="3" actId="478"/>
          <ac:picMkLst>
            <pc:docMk/>
            <pc:sldMk cId="1299420377" sldId="267"/>
            <ac:picMk id="3" creationId="{C100AB54-3280-33E0-851E-03D1A6A0057D}"/>
          </ac:picMkLst>
        </pc:picChg>
        <pc:picChg chg="del">
          <ac:chgData name="Shubda Lade" userId="ed5a3044622d2dbc" providerId="LiveId" clId="{55955817-4FFB-4120-8145-56ABB405F3D8}" dt="2025-09-05T05:37:39.035" v="6" actId="478"/>
          <ac:picMkLst>
            <pc:docMk/>
            <pc:sldMk cId="1299420377" sldId="267"/>
            <ac:picMk id="10" creationId="{C4FDC5CF-2067-DC2C-AAA6-5E504BBE3A6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48E28-7271-4542-9DB8-25B6E4CD9A62}" type="datetimeFigureOut">
              <a:rPr lang="en-IN" smtClean="0"/>
              <a:t>05-09-2025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699097-E3A9-4E65-9D91-147AAC04B5C9}" type="slidenum">
              <a:rPr lang="en-IN" smtClean="0"/>
              <a:t>‹#›</a:t>
            </a:fld>
            <a:endParaRPr lang="en-IN"/>
          </a:p>
        </p:txBody>
      </p:sp>
    </p:spTree>
    <p:extLst>
      <p:ext uri="{BB962C8B-B14F-4D97-AF65-F5344CB8AC3E}">
        <p14:creationId xmlns:p14="http://schemas.microsoft.com/office/powerpoint/2010/main" val="413748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699097-E3A9-4E65-9D91-147AAC04B5C9}" type="slidenum">
              <a:rPr lang="en-IN" smtClean="0"/>
              <a:t>3</a:t>
            </a:fld>
            <a:endParaRPr lang="en-IN"/>
          </a:p>
        </p:txBody>
      </p:sp>
    </p:spTree>
    <p:extLst>
      <p:ext uri="{BB962C8B-B14F-4D97-AF65-F5344CB8AC3E}">
        <p14:creationId xmlns:p14="http://schemas.microsoft.com/office/powerpoint/2010/main" val="1985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16A6-12DC-08D9-350B-357DA1741B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681D9F-24D9-A567-8C71-4E8112D3A4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6CD354-F03B-E2F9-FBDA-59CDBFDDBA60}"/>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5CDAF965-64F4-47FF-95EE-525648E98E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192B63-07EE-D67C-12D4-A37C631C30AD}"/>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1757330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BF488-6AFF-182C-A049-EBD5C240FD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D10C7E-AF5B-1F24-6813-82EE812D1A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EEFF4A-9FBD-FCC0-C0A4-375C47010F1B}"/>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DDC6158C-C2FA-548B-1024-2828AA6BCB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C80B6-7036-8BCB-5475-A72F9E22ADC2}"/>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264414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9B887-029A-1EF3-5CDF-0B2C5799DD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0482FF-DD38-5CD4-8467-2F064834FE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BD812-245B-301F-229B-B2633F370955}"/>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BC17E968-BC8A-926D-79DB-E5703625C4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A94FEB-3D45-5313-7345-021A3CB74FE1}"/>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414456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A713-DF44-4679-DD64-D825C5BEE8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23BC2E-31C1-C762-CB84-E7B5BBA18B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3DC068-00E1-993C-6693-5BE0DA16F9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B39392-4357-A63A-0F76-7B24F26F537E}"/>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6" name="Footer Placeholder 5">
            <a:extLst>
              <a:ext uri="{FF2B5EF4-FFF2-40B4-BE49-F238E27FC236}">
                <a16:creationId xmlns:a16="http://schemas.microsoft.com/office/drawing/2014/main" id="{EBF35280-354E-A8E9-9DA1-4B848A8E2B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7746D3-DB8D-5173-B01A-7A4FA7F26069}"/>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358159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71AF-8C5D-5686-934A-49CC9167CE5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4E6812-D2C1-4EA1-F4EB-23FB253AD9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4BD8A1-F247-112D-4C96-3F5D2A786A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1FB0AE-4BA8-9C2B-E346-C319D2A142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FA5407-18A1-995B-6C6D-3A30803F9C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84B09F-0D9C-28D0-EC64-CDCC9594B794}"/>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8" name="Footer Placeholder 7">
            <a:extLst>
              <a:ext uri="{FF2B5EF4-FFF2-40B4-BE49-F238E27FC236}">
                <a16:creationId xmlns:a16="http://schemas.microsoft.com/office/drawing/2014/main" id="{2263F00C-2E8B-BAD6-574A-CEA36F6B0E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8A126F-9051-9AD8-FBB4-7012BCE65D7E}"/>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1918101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62DF-E1F6-6A0B-9714-11BDB4BC30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E475CC-6B93-0BE5-CCF9-EDAB342ADEB8}"/>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4" name="Footer Placeholder 3">
            <a:extLst>
              <a:ext uri="{FF2B5EF4-FFF2-40B4-BE49-F238E27FC236}">
                <a16:creationId xmlns:a16="http://schemas.microsoft.com/office/drawing/2014/main" id="{71509201-06E9-BCCF-1D95-F4F740F3A5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575733-AEB1-9760-9252-6158577EF02A}"/>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269140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DBF15-360E-CDE8-FDCC-7B6C4E71BA5B}"/>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3" name="Footer Placeholder 2">
            <a:extLst>
              <a:ext uri="{FF2B5EF4-FFF2-40B4-BE49-F238E27FC236}">
                <a16:creationId xmlns:a16="http://schemas.microsoft.com/office/drawing/2014/main" id="{F251B26E-1AC2-8CD6-9956-ECC34FB567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1F4BCF-C969-E892-3627-B545CB4F2715}"/>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99741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FA35-64DE-A7FD-EB59-FCA9A33494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276B35-A599-9C27-F255-F6AE534CB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480892-F326-1EA7-78F6-73D36E96D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98EA60-1408-B6FD-B663-019876382D8C}"/>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6" name="Footer Placeholder 5">
            <a:extLst>
              <a:ext uri="{FF2B5EF4-FFF2-40B4-BE49-F238E27FC236}">
                <a16:creationId xmlns:a16="http://schemas.microsoft.com/office/drawing/2014/main" id="{D7CFF08E-D771-E28C-EB30-DB47824A36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8659DD-1271-95F9-4728-4C8FEA256437}"/>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3574558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6703C-6695-D9B3-23D0-B91BFA924A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55E13A-B79B-D8B5-D838-11DB244BCD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1CC3EE-92B2-8254-59DD-D67DAE3B7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2BF34B-67F7-FBC2-B267-D6D65C5EC2A0}"/>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6" name="Footer Placeholder 5">
            <a:extLst>
              <a:ext uri="{FF2B5EF4-FFF2-40B4-BE49-F238E27FC236}">
                <a16:creationId xmlns:a16="http://schemas.microsoft.com/office/drawing/2014/main" id="{5944FF98-44C2-C331-02E4-F42400BCE2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1F5E82-10F0-0ED7-B704-DB5AE6C5ED31}"/>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333161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D497-DD8D-D295-CD8F-515A6D5016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6DEB55-75D0-1BE1-933B-C3FC9D4359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B086B8-A829-B212-7E8C-57C21B1C9E87}"/>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95E15963-8969-20C7-C3B8-94F4380BC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F6C071-3E9F-F6F7-4BB1-F4E03E33C317}"/>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277912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8D0628-526F-04FE-DC5B-B6E29D9B0A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2077B2-51A9-F25B-D876-0EE336B5D1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C3B2E-85B8-D56C-EBC9-A2AB700BDE8F}"/>
              </a:ext>
            </a:extLst>
          </p:cNvPr>
          <p:cNvSpPr>
            <a:spLocks noGrp="1"/>
          </p:cNvSpPr>
          <p:nvPr>
            <p:ph type="dt" sz="half" idx="10"/>
          </p:nvPr>
        </p:nvSpPr>
        <p:spPr/>
        <p:txBody>
          <a:body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F0192389-0FF0-4A9D-59D2-41D86F8702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D143AF-10D9-60DD-1871-F1FBA8B25979}"/>
              </a:ext>
            </a:extLst>
          </p:cNvPr>
          <p:cNvSpPr>
            <a:spLocks noGrp="1"/>
          </p:cNvSpPr>
          <p:nvPr>
            <p:ph type="sldNum" sz="quarter" idx="12"/>
          </p:nvPr>
        </p:nvSpPr>
        <p:spPr/>
        <p:txBody>
          <a:bodyPr/>
          <a:lstStyle/>
          <a:p>
            <a:fld id="{393B92F0-4FDF-4A4C-A208-23ECB089AB63}" type="slidenum">
              <a:rPr lang="en-IN" smtClean="0"/>
              <a:t>‹#›</a:t>
            </a:fld>
            <a:endParaRPr lang="en-IN"/>
          </a:p>
        </p:txBody>
      </p:sp>
    </p:spTree>
    <p:extLst>
      <p:ext uri="{BB962C8B-B14F-4D97-AF65-F5344CB8AC3E}">
        <p14:creationId xmlns:p14="http://schemas.microsoft.com/office/powerpoint/2010/main" val="213482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E46CA-EABC-56A9-67B9-3F440284D1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5A95A2-9077-E946-CB6E-8A6D811A1F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514C58-6061-44D7-1D0F-B0534E0B0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D36E4F-677D-45ED-81CE-A11540E43F07}" type="datetimeFigureOut">
              <a:rPr lang="en-IN" smtClean="0"/>
              <a:t>05-09-2025</a:t>
            </a:fld>
            <a:endParaRPr lang="en-IN"/>
          </a:p>
        </p:txBody>
      </p:sp>
      <p:sp>
        <p:nvSpPr>
          <p:cNvPr id="5" name="Footer Placeholder 4">
            <a:extLst>
              <a:ext uri="{FF2B5EF4-FFF2-40B4-BE49-F238E27FC236}">
                <a16:creationId xmlns:a16="http://schemas.microsoft.com/office/drawing/2014/main" id="{0210FAAA-C4C5-A5FD-8B13-641D56231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EBB560-19EE-7942-1936-7D59AA27E1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3B92F0-4FDF-4A4C-A208-23ECB089AB63}" type="slidenum">
              <a:rPr lang="en-IN" smtClean="0"/>
              <a:t>‹#›</a:t>
            </a:fld>
            <a:endParaRPr lang="en-IN"/>
          </a:p>
        </p:txBody>
      </p:sp>
    </p:spTree>
    <p:extLst>
      <p:ext uri="{BB962C8B-B14F-4D97-AF65-F5344CB8AC3E}">
        <p14:creationId xmlns:p14="http://schemas.microsoft.com/office/powerpoint/2010/main" val="4171937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www.cambridge.edu.in/"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cambridge.edu.in/"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www.cambridge.edu.in/" TargetMode="Externa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hyperlink" Target="http://www.cambridge.edu.i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2CB9D730-A596-1467-E11B-3E678319ACAD}"/>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92F"/>
          </a:solidFill>
        </p:spPr>
        <p:txBody>
          <a:bodyPr wrap="square" lIns="0" tIns="0" rIns="0" bIns="0" rtlCol="0"/>
          <a:lstStyle/>
          <a:p>
            <a:endParaRPr lang="en-IN" dirty="0"/>
          </a:p>
        </p:txBody>
      </p:sp>
      <p:pic>
        <p:nvPicPr>
          <p:cNvPr id="8" name="object 8">
            <a:extLst>
              <a:ext uri="{FF2B5EF4-FFF2-40B4-BE49-F238E27FC236}">
                <a16:creationId xmlns:a16="http://schemas.microsoft.com/office/drawing/2014/main" id="{8A128AA8-B1A2-CB70-0198-54124EBCFE14}"/>
              </a:ext>
            </a:extLst>
          </p:cNvPr>
          <p:cNvPicPr/>
          <p:nvPr/>
        </p:nvPicPr>
        <p:blipFill>
          <a:blip r:embed="rId2" cstate="print"/>
          <a:stretch>
            <a:fillRect/>
          </a:stretch>
        </p:blipFill>
        <p:spPr>
          <a:xfrm>
            <a:off x="2645832" y="197784"/>
            <a:ext cx="2754248" cy="2018029"/>
          </a:xfrm>
          <a:prstGeom prst="rect">
            <a:avLst/>
          </a:prstGeom>
        </p:spPr>
      </p:pic>
      <p:pic>
        <p:nvPicPr>
          <p:cNvPr id="9" name="object 7">
            <a:extLst>
              <a:ext uri="{FF2B5EF4-FFF2-40B4-BE49-F238E27FC236}">
                <a16:creationId xmlns:a16="http://schemas.microsoft.com/office/drawing/2014/main" id="{05ADCAD5-114B-2B0B-EF05-ABE421BCED50}"/>
              </a:ext>
            </a:extLst>
          </p:cNvPr>
          <p:cNvPicPr/>
          <p:nvPr/>
        </p:nvPicPr>
        <p:blipFill>
          <a:blip r:embed="rId3" cstate="print"/>
          <a:stretch>
            <a:fillRect/>
          </a:stretch>
        </p:blipFill>
        <p:spPr>
          <a:xfrm>
            <a:off x="6571233" y="321140"/>
            <a:ext cx="5473064" cy="4908042"/>
          </a:xfrm>
          <a:prstGeom prst="rect">
            <a:avLst/>
          </a:prstGeom>
        </p:spPr>
      </p:pic>
      <p:sp>
        <p:nvSpPr>
          <p:cNvPr id="11" name="TextBox 10">
            <a:extLst>
              <a:ext uri="{FF2B5EF4-FFF2-40B4-BE49-F238E27FC236}">
                <a16:creationId xmlns:a16="http://schemas.microsoft.com/office/drawing/2014/main" id="{8069956C-65A2-8E7B-9CD7-ACF77A9BA931}"/>
              </a:ext>
            </a:extLst>
          </p:cNvPr>
          <p:cNvSpPr txBox="1"/>
          <p:nvPr/>
        </p:nvSpPr>
        <p:spPr>
          <a:xfrm>
            <a:off x="228599" y="2215813"/>
            <a:ext cx="7044268" cy="567143"/>
          </a:xfrm>
          <a:prstGeom prst="rect">
            <a:avLst/>
          </a:prstGeom>
          <a:noFill/>
        </p:spPr>
        <p:txBody>
          <a:bodyPr wrap="square">
            <a:spAutoFit/>
          </a:bodyPr>
          <a:lstStyle/>
          <a:p>
            <a:pPr marL="12700">
              <a:lnSpc>
                <a:spcPts val="3670"/>
              </a:lnSpc>
              <a:spcBef>
                <a:spcPts val="100"/>
              </a:spcBef>
              <a:tabLst>
                <a:tab pos="2760345" algn="l"/>
                <a:tab pos="4325620" algn="l"/>
              </a:tabLst>
            </a:pPr>
            <a:r>
              <a:rPr lang="en-IN" sz="3200" b="1" dirty="0">
                <a:solidFill>
                  <a:srgbClr val="00A0DA"/>
                </a:solidFill>
                <a:latin typeface="Times New Roman"/>
                <a:cs typeface="Times New Roman"/>
              </a:rPr>
              <a:t>Title:-</a:t>
            </a:r>
            <a:r>
              <a:rPr lang="en-IN" sz="3200" b="1" spc="-110" dirty="0">
                <a:solidFill>
                  <a:srgbClr val="00A0DA"/>
                </a:solidFill>
                <a:latin typeface="Times New Roman"/>
                <a:cs typeface="Times New Roman"/>
              </a:rPr>
              <a:t> </a:t>
            </a:r>
            <a:r>
              <a:rPr lang="en-IN" sz="3200" b="1" spc="-10" dirty="0">
                <a:solidFill>
                  <a:srgbClr val="FFFFFF"/>
                </a:solidFill>
                <a:latin typeface="Times New Roman"/>
                <a:cs typeface="Times New Roman"/>
              </a:rPr>
              <a:t>“ </a:t>
            </a:r>
            <a:r>
              <a:rPr lang="en-IN" sz="3200" b="1" dirty="0">
                <a:solidFill>
                  <a:srgbClr val="00A0DA"/>
                </a:solidFill>
                <a:latin typeface="Times New Roman"/>
                <a:cs typeface="Times New Roman"/>
              </a:rPr>
              <a:t>Lost and Found Platform</a:t>
            </a:r>
            <a:r>
              <a:rPr lang="en-IN" sz="3200" b="1" dirty="0">
                <a:solidFill>
                  <a:schemeClr val="bg1"/>
                </a:solidFill>
                <a:latin typeface="Times New Roman"/>
                <a:cs typeface="Times New Roman"/>
              </a:rPr>
              <a:t>”</a:t>
            </a:r>
            <a:endParaRPr lang="en-IN" sz="3200" dirty="0">
              <a:solidFill>
                <a:schemeClr val="bg1"/>
              </a:solidFill>
            </a:endParaRPr>
          </a:p>
        </p:txBody>
      </p:sp>
      <p:sp>
        <p:nvSpPr>
          <p:cNvPr id="13" name="TextBox 12">
            <a:extLst>
              <a:ext uri="{FF2B5EF4-FFF2-40B4-BE49-F238E27FC236}">
                <a16:creationId xmlns:a16="http://schemas.microsoft.com/office/drawing/2014/main" id="{508C84F8-4BD7-5869-65F6-E86DD469BDC0}"/>
              </a:ext>
            </a:extLst>
          </p:cNvPr>
          <p:cNvSpPr txBox="1"/>
          <p:nvPr/>
        </p:nvSpPr>
        <p:spPr>
          <a:xfrm>
            <a:off x="147703" y="3397937"/>
            <a:ext cx="1770461" cy="677108"/>
          </a:xfrm>
          <a:prstGeom prst="rect">
            <a:avLst/>
          </a:prstGeom>
          <a:noFill/>
        </p:spPr>
        <p:txBody>
          <a:bodyPr wrap="square" rtlCol="0">
            <a:spAutoFit/>
          </a:bodyPr>
          <a:lstStyle/>
          <a:p>
            <a:pPr algn="ctr"/>
            <a:r>
              <a:rPr lang="en-IN" sz="2000" b="1" dirty="0">
                <a:solidFill>
                  <a:srgbClr val="FFFFFF"/>
                </a:solidFill>
                <a:latin typeface="Times New Roman"/>
                <a:cs typeface="Times New Roman"/>
              </a:rPr>
              <a:t>Presented</a:t>
            </a:r>
            <a:r>
              <a:rPr lang="en-IN" sz="2000" b="1" spc="-70" dirty="0">
                <a:solidFill>
                  <a:srgbClr val="FFFFFF"/>
                </a:solidFill>
                <a:latin typeface="Times New Roman"/>
                <a:cs typeface="Times New Roman"/>
              </a:rPr>
              <a:t> </a:t>
            </a:r>
            <a:r>
              <a:rPr lang="en-IN" sz="2000" b="1" spc="-25" dirty="0">
                <a:solidFill>
                  <a:srgbClr val="FFFFFF"/>
                </a:solidFill>
                <a:latin typeface="Times New Roman"/>
                <a:cs typeface="Times New Roman"/>
              </a:rPr>
              <a:t>by:</a:t>
            </a:r>
            <a:endParaRPr lang="en-IN" sz="2000" b="1" dirty="0">
              <a:latin typeface="Times New Roman"/>
              <a:cs typeface="Times New Roman"/>
            </a:endParaRPr>
          </a:p>
          <a:p>
            <a:endParaRPr lang="en-IN" dirty="0"/>
          </a:p>
        </p:txBody>
      </p:sp>
      <p:sp>
        <p:nvSpPr>
          <p:cNvPr id="14" name="TextBox 13">
            <a:extLst>
              <a:ext uri="{FF2B5EF4-FFF2-40B4-BE49-F238E27FC236}">
                <a16:creationId xmlns:a16="http://schemas.microsoft.com/office/drawing/2014/main" id="{8E004CA6-94A9-A3E5-8247-F9F2732E3246}"/>
              </a:ext>
            </a:extLst>
          </p:cNvPr>
          <p:cNvSpPr txBox="1"/>
          <p:nvPr/>
        </p:nvSpPr>
        <p:spPr>
          <a:xfrm>
            <a:off x="1858982" y="3136326"/>
            <a:ext cx="3081868" cy="1200329"/>
          </a:xfrm>
          <a:prstGeom prst="rect">
            <a:avLst/>
          </a:prstGeom>
          <a:noFill/>
        </p:spPr>
        <p:txBody>
          <a:bodyPr wrap="square" rtlCol="0">
            <a:spAutoFit/>
          </a:bodyPr>
          <a:lstStyle/>
          <a:p>
            <a:pPr algn="ctr"/>
            <a:r>
              <a:rPr lang="en-IN" dirty="0">
                <a:solidFill>
                  <a:schemeClr val="bg1"/>
                </a:solidFill>
              </a:rPr>
              <a:t>Shubda          [1AJ23CS147]</a:t>
            </a:r>
          </a:p>
          <a:p>
            <a:pPr algn="ctr"/>
            <a:r>
              <a:rPr lang="en-IN" dirty="0">
                <a:solidFill>
                  <a:schemeClr val="bg1"/>
                </a:solidFill>
              </a:rPr>
              <a:t>Sindhu M       [1AJ23CS152]</a:t>
            </a:r>
          </a:p>
          <a:p>
            <a:pPr algn="ctr"/>
            <a:r>
              <a:rPr lang="en-IN" dirty="0">
                <a:solidFill>
                  <a:schemeClr val="bg1"/>
                </a:solidFill>
              </a:rPr>
              <a:t>Sushmitha     [1AJ23CS164]</a:t>
            </a:r>
          </a:p>
          <a:p>
            <a:pPr algn="ctr"/>
            <a:r>
              <a:rPr lang="en-IN" dirty="0">
                <a:solidFill>
                  <a:schemeClr val="bg1"/>
                </a:solidFill>
              </a:rPr>
              <a:t>Vijayalaxmi    [1AJ23CS181]</a:t>
            </a:r>
          </a:p>
        </p:txBody>
      </p:sp>
      <p:sp>
        <p:nvSpPr>
          <p:cNvPr id="15" name="TextBox 14">
            <a:extLst>
              <a:ext uri="{FF2B5EF4-FFF2-40B4-BE49-F238E27FC236}">
                <a16:creationId xmlns:a16="http://schemas.microsoft.com/office/drawing/2014/main" id="{9B26FF9D-69CD-9474-6C8C-3D91EFD0CDE3}"/>
              </a:ext>
            </a:extLst>
          </p:cNvPr>
          <p:cNvSpPr txBox="1"/>
          <p:nvPr/>
        </p:nvSpPr>
        <p:spPr>
          <a:xfrm>
            <a:off x="-524932" y="4749799"/>
            <a:ext cx="5207000" cy="400110"/>
          </a:xfrm>
          <a:prstGeom prst="rect">
            <a:avLst/>
          </a:prstGeom>
          <a:noFill/>
        </p:spPr>
        <p:txBody>
          <a:bodyPr wrap="square" rtlCol="0">
            <a:spAutoFit/>
          </a:bodyPr>
          <a:lstStyle/>
          <a:p>
            <a:pPr algn="ctr"/>
            <a:r>
              <a:rPr lang="en-IN" sz="2000" b="1" dirty="0">
                <a:solidFill>
                  <a:schemeClr val="bg1"/>
                </a:solidFill>
              </a:rPr>
              <a:t>Guided By:-Prof. Gopala Krishna</a:t>
            </a:r>
          </a:p>
        </p:txBody>
      </p:sp>
      <p:sp>
        <p:nvSpPr>
          <p:cNvPr id="16" name="TextBox 15">
            <a:extLst>
              <a:ext uri="{FF2B5EF4-FFF2-40B4-BE49-F238E27FC236}">
                <a16:creationId xmlns:a16="http://schemas.microsoft.com/office/drawing/2014/main" id="{5349655A-733C-58E1-4102-5132D9676CDC}"/>
              </a:ext>
            </a:extLst>
          </p:cNvPr>
          <p:cNvSpPr txBox="1"/>
          <p:nvPr/>
        </p:nvSpPr>
        <p:spPr>
          <a:xfrm>
            <a:off x="228598" y="5715000"/>
            <a:ext cx="4834469" cy="646331"/>
          </a:xfrm>
          <a:prstGeom prst="rect">
            <a:avLst/>
          </a:prstGeom>
          <a:noFill/>
        </p:spPr>
        <p:txBody>
          <a:bodyPr wrap="square" rtlCol="0">
            <a:spAutoFit/>
          </a:bodyPr>
          <a:lstStyle/>
          <a:p>
            <a:r>
              <a:rPr lang="en-US" i="1" spc="-20" dirty="0">
                <a:solidFill>
                  <a:srgbClr val="FFFFFF"/>
                </a:solidFill>
                <a:latin typeface="Calibri Light"/>
                <a:cs typeface="Calibri Light"/>
              </a:rPr>
              <a:t>Department</a:t>
            </a:r>
            <a:r>
              <a:rPr lang="en-US" i="1" spc="-45" dirty="0">
                <a:solidFill>
                  <a:srgbClr val="FFFFFF"/>
                </a:solidFill>
                <a:latin typeface="Calibri Light"/>
                <a:cs typeface="Calibri Light"/>
              </a:rPr>
              <a:t> </a:t>
            </a:r>
            <a:r>
              <a:rPr lang="en-US" i="1" dirty="0">
                <a:solidFill>
                  <a:srgbClr val="FFFFFF"/>
                </a:solidFill>
                <a:latin typeface="Calibri Light"/>
                <a:cs typeface="Calibri Light"/>
              </a:rPr>
              <a:t>of Computer Science and Engineering</a:t>
            </a:r>
            <a:endParaRPr lang="en-US" dirty="0">
              <a:latin typeface="Calibri Light"/>
              <a:cs typeface="Calibri Light"/>
            </a:endParaRPr>
          </a:p>
          <a:p>
            <a:endParaRPr lang="en-IN" dirty="0"/>
          </a:p>
        </p:txBody>
      </p:sp>
      <p:sp>
        <p:nvSpPr>
          <p:cNvPr id="17" name="TextBox 16">
            <a:extLst>
              <a:ext uri="{FF2B5EF4-FFF2-40B4-BE49-F238E27FC236}">
                <a16:creationId xmlns:a16="http://schemas.microsoft.com/office/drawing/2014/main" id="{855EF1BC-05F8-A8A0-8F81-2F9BDBAF7461}"/>
              </a:ext>
            </a:extLst>
          </p:cNvPr>
          <p:cNvSpPr txBox="1"/>
          <p:nvPr/>
        </p:nvSpPr>
        <p:spPr>
          <a:xfrm>
            <a:off x="7272867" y="5714999"/>
            <a:ext cx="4504267" cy="646331"/>
          </a:xfrm>
          <a:prstGeom prst="rect">
            <a:avLst/>
          </a:prstGeom>
          <a:noFill/>
        </p:spPr>
        <p:txBody>
          <a:bodyPr wrap="square" rtlCol="0">
            <a:spAutoFit/>
          </a:bodyPr>
          <a:lstStyle/>
          <a:p>
            <a:pPr algn="ctr"/>
            <a:r>
              <a:rPr lang="en-IN" spc="-10" dirty="0">
                <a:solidFill>
                  <a:schemeClr val="bg1"/>
                </a:solidFill>
                <a:cs typeface="Calibri"/>
                <a:hlinkClick r:id="rId4">
                  <a:extLst>
                    <a:ext uri="{A12FA001-AC4F-418D-AE19-62706E023703}">
                      <ahyp:hlinkClr xmlns:ahyp="http://schemas.microsoft.com/office/drawing/2018/hyperlinkcolor" val="tx"/>
                    </a:ext>
                  </a:extLst>
                </a:hlinkClick>
              </a:rPr>
              <a:t>www.cambridge.edu.in</a:t>
            </a:r>
            <a:endParaRPr lang="en-IN" dirty="0">
              <a:solidFill>
                <a:schemeClr val="bg1"/>
              </a:solidFill>
              <a:cs typeface="Calibri"/>
            </a:endParaRPr>
          </a:p>
          <a:p>
            <a:endParaRPr lang="en-IN" dirty="0"/>
          </a:p>
        </p:txBody>
      </p:sp>
    </p:spTree>
    <p:extLst>
      <p:ext uri="{BB962C8B-B14F-4D97-AF65-F5344CB8AC3E}">
        <p14:creationId xmlns:p14="http://schemas.microsoft.com/office/powerpoint/2010/main" val="3166891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F25DB461-85E1-3817-9B27-57994E511A74}"/>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1EBA5CCD-6286-B463-DB2C-10A5E30DBCBA}"/>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62AC8795-C58C-53CE-34CF-90FB364C4530}"/>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7EB79873-C11E-0FE5-4AF7-22A682B0C3D0}"/>
                </a:ext>
              </a:extLst>
            </p:cNvPr>
            <p:cNvPicPr/>
            <p:nvPr/>
          </p:nvPicPr>
          <p:blipFill>
            <a:blip r:embed="rId2" cstate="print"/>
            <a:stretch>
              <a:fillRect/>
            </a:stretch>
          </p:blipFill>
          <p:spPr>
            <a:xfrm>
              <a:off x="501383" y="109981"/>
              <a:ext cx="1801876" cy="1576450"/>
            </a:xfrm>
            <a:prstGeom prst="rect">
              <a:avLst/>
            </a:prstGeom>
          </p:spPr>
        </p:pic>
      </p:grpSp>
      <p:sp>
        <p:nvSpPr>
          <p:cNvPr id="11" name="TextBox 10">
            <a:extLst>
              <a:ext uri="{FF2B5EF4-FFF2-40B4-BE49-F238E27FC236}">
                <a16:creationId xmlns:a16="http://schemas.microsoft.com/office/drawing/2014/main" id="{CD715647-982E-6031-5B73-412531F50B51}"/>
              </a:ext>
            </a:extLst>
          </p:cNvPr>
          <p:cNvSpPr txBox="1"/>
          <p:nvPr/>
        </p:nvSpPr>
        <p:spPr>
          <a:xfrm>
            <a:off x="2980268" y="414866"/>
            <a:ext cx="5706532" cy="584775"/>
          </a:xfrm>
          <a:prstGeom prst="rect">
            <a:avLst/>
          </a:prstGeom>
          <a:noFill/>
        </p:spPr>
        <p:txBody>
          <a:bodyPr wrap="square" rtlCol="0">
            <a:spAutoFit/>
          </a:bodyPr>
          <a:lstStyle/>
          <a:p>
            <a:pPr algn="ctr"/>
            <a:r>
              <a:rPr kumimoji="0" lang="en-IN" sz="3200" b="1" i="0" u="none" strike="noStrike" kern="0" cap="none" spc="0" normalizeH="0" baseline="0" noProof="0" dirty="0">
                <a:ln>
                  <a:noFill/>
                </a:ln>
                <a:solidFill>
                  <a:prstClr val="black"/>
                </a:solidFill>
                <a:effectLst/>
                <a:uLnTx/>
                <a:uFillTx/>
                <a:latin typeface="Times New Roman"/>
                <a:ea typeface="+mj-ea"/>
                <a:cs typeface="Times New Roman"/>
              </a:rPr>
              <a:t>CONTENTS:</a:t>
            </a:r>
            <a:endParaRPr lang="en-IN" b="1" dirty="0"/>
          </a:p>
        </p:txBody>
      </p:sp>
      <p:sp>
        <p:nvSpPr>
          <p:cNvPr id="12" name="TextBox 11">
            <a:extLst>
              <a:ext uri="{FF2B5EF4-FFF2-40B4-BE49-F238E27FC236}">
                <a16:creationId xmlns:a16="http://schemas.microsoft.com/office/drawing/2014/main" id="{E74B1535-EB88-FE88-DB9F-AF5401563CB3}"/>
              </a:ext>
            </a:extLst>
          </p:cNvPr>
          <p:cNvSpPr txBox="1"/>
          <p:nvPr/>
        </p:nvSpPr>
        <p:spPr>
          <a:xfrm>
            <a:off x="3691466" y="1774448"/>
            <a:ext cx="5437293" cy="3477875"/>
          </a:xfrm>
          <a:prstGeom prst="rect">
            <a:avLst/>
          </a:prstGeom>
          <a:noFill/>
        </p:spPr>
        <p:txBody>
          <a:bodyPr wrap="square" rtlCol="0">
            <a:spAutoFit/>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Introduction</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System Specifications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Hardware Requirements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Software Requirements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Tools &amp; Technologies used in  Web applications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Flow chart &amp; ER diagram</a:t>
            </a: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p>
        </p:txBody>
      </p:sp>
      <p:sp>
        <p:nvSpPr>
          <p:cNvPr id="13" name="TextBox 12">
            <a:extLst>
              <a:ext uri="{FF2B5EF4-FFF2-40B4-BE49-F238E27FC236}">
                <a16:creationId xmlns:a16="http://schemas.microsoft.com/office/drawing/2014/main" id="{8E973792-4A73-28A5-9AE8-0A3EE44558B7}"/>
              </a:ext>
            </a:extLst>
          </p:cNvPr>
          <p:cNvSpPr txBox="1"/>
          <p:nvPr/>
        </p:nvSpPr>
        <p:spPr>
          <a:xfrm>
            <a:off x="228600" y="6409061"/>
            <a:ext cx="4953000" cy="326371"/>
          </a:xfrm>
          <a:prstGeom prst="rect">
            <a:avLst/>
          </a:prstGeom>
          <a:noFill/>
        </p:spPr>
        <p:txBody>
          <a:bodyPr wrap="square">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15" name="TextBox 14">
            <a:extLst>
              <a:ext uri="{FF2B5EF4-FFF2-40B4-BE49-F238E27FC236}">
                <a16:creationId xmlns:a16="http://schemas.microsoft.com/office/drawing/2014/main" id="{28536216-5817-AF26-D2E0-BA8544BE4CFD}"/>
              </a:ext>
            </a:extLst>
          </p:cNvPr>
          <p:cNvSpPr txBox="1"/>
          <p:nvPr/>
        </p:nvSpPr>
        <p:spPr>
          <a:xfrm>
            <a:off x="9677400" y="6434255"/>
            <a:ext cx="2286000" cy="326371"/>
          </a:xfrm>
          <a:prstGeom prst="rect">
            <a:avLst/>
          </a:prstGeom>
          <a:noFill/>
        </p:spPr>
        <p:txBody>
          <a:bodyPr wrap="square">
            <a:spAutoFit/>
          </a:bodyPr>
          <a:lstStyle/>
          <a:p>
            <a:pPr marL="12700">
              <a:lnSpc>
                <a:spcPts val="1810"/>
              </a:lnSpc>
            </a:pPr>
            <a:r>
              <a:rPr lang="en-IN" sz="1800"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sz="1800" dirty="0">
              <a:solidFill>
                <a:schemeClr val="bg1"/>
              </a:solidFill>
              <a:latin typeface="Calibri Light"/>
              <a:cs typeface="Calibri Light"/>
            </a:endParaRPr>
          </a:p>
        </p:txBody>
      </p:sp>
    </p:spTree>
    <p:extLst>
      <p:ext uri="{BB962C8B-B14F-4D97-AF65-F5344CB8AC3E}">
        <p14:creationId xmlns:p14="http://schemas.microsoft.com/office/powerpoint/2010/main" val="285228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6E46-2A4E-018C-476C-047EF160A1F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B32F26-2DA9-8749-1613-FCFF4EAAA4BB}"/>
              </a:ext>
            </a:extLst>
          </p:cNvPr>
          <p:cNvSpPr/>
          <p:nvPr/>
        </p:nvSpPr>
        <p:spPr>
          <a:xfrm>
            <a:off x="-1" y="6286500"/>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dirty="0"/>
          </a:p>
        </p:txBody>
      </p:sp>
      <p:grpSp>
        <p:nvGrpSpPr>
          <p:cNvPr id="5" name="object 5">
            <a:extLst>
              <a:ext uri="{FF2B5EF4-FFF2-40B4-BE49-F238E27FC236}">
                <a16:creationId xmlns:a16="http://schemas.microsoft.com/office/drawing/2014/main" id="{530B212A-3589-5047-8704-1AE6D97B98F4}"/>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EDBD135F-E242-30D3-1ECD-E770CE59F4F2}"/>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545692B8-60F3-02A9-3731-266CEFC64F1A}"/>
                </a:ext>
              </a:extLst>
            </p:cNvPr>
            <p:cNvPicPr/>
            <p:nvPr/>
          </p:nvPicPr>
          <p:blipFill>
            <a:blip r:embed="rId3" cstate="print"/>
            <a:stretch>
              <a:fillRect/>
            </a:stretch>
          </p:blipFill>
          <p:spPr>
            <a:xfrm>
              <a:off x="501383" y="109981"/>
              <a:ext cx="1801876" cy="1576450"/>
            </a:xfrm>
            <a:prstGeom prst="rect">
              <a:avLst/>
            </a:prstGeom>
          </p:spPr>
        </p:pic>
      </p:grpSp>
      <p:sp>
        <p:nvSpPr>
          <p:cNvPr id="3" name="TextBox 2">
            <a:extLst>
              <a:ext uri="{FF2B5EF4-FFF2-40B4-BE49-F238E27FC236}">
                <a16:creationId xmlns:a16="http://schemas.microsoft.com/office/drawing/2014/main" id="{ADCFA08D-35C0-0B1C-FBDE-83810E92FD8E}"/>
              </a:ext>
            </a:extLst>
          </p:cNvPr>
          <p:cNvSpPr txBox="1"/>
          <p:nvPr/>
        </p:nvSpPr>
        <p:spPr>
          <a:xfrm>
            <a:off x="3930723" y="528686"/>
            <a:ext cx="3919741" cy="646331"/>
          </a:xfrm>
          <a:prstGeom prst="rect">
            <a:avLst/>
          </a:prstGeom>
          <a:noFill/>
        </p:spPr>
        <p:txBody>
          <a:bodyPr wrap="square">
            <a:spAutoFit/>
          </a:bodyPr>
          <a:lstStyle/>
          <a:p>
            <a:pPr algn="ctr"/>
            <a:r>
              <a:rPr lang="en-IN" sz="3600" b="1" spc="-10"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DFA6401-1C5D-5B80-6848-D756714BAAEA}"/>
              </a:ext>
            </a:extLst>
          </p:cNvPr>
          <p:cNvSpPr txBox="1"/>
          <p:nvPr/>
        </p:nvSpPr>
        <p:spPr>
          <a:xfrm>
            <a:off x="428491" y="2279936"/>
            <a:ext cx="11335017" cy="347787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In today’s fast-paced world, losing personal belongings in public places is a common problem faced by many. Whether it’s a misplaced phone, a forgotten bag, or a lost ID card, recovering these items often becomes a stressful and time-consuming process. To address this issue, we propose a Lost and Found platform—a centralized, user-friendly system designed to connect individuals who have lost items with those who have found them. This platform allows users to report lost items by providing relevant details and images, and similarly, enables others to report found items. Using search filters and intelligent matching, the system helps increase the chances of reuniting items with their rightful owners. The platform can be implemented in institutions, public transport systems, or community areas. Our goal is to simplify the process of returning lost belongings, promote honesty, and create a helpful community-driven solution for everyday life challenges.</a:t>
            </a:r>
          </a:p>
          <a:p>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522A360-5F5E-5D59-D244-6DEE6C252798}"/>
              </a:ext>
            </a:extLst>
          </p:cNvPr>
          <p:cNvSpPr txBox="1"/>
          <p:nvPr/>
        </p:nvSpPr>
        <p:spPr>
          <a:xfrm>
            <a:off x="228601" y="6409064"/>
            <a:ext cx="4927599"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11" name="TextBox 10">
            <a:extLst>
              <a:ext uri="{FF2B5EF4-FFF2-40B4-BE49-F238E27FC236}">
                <a16:creationId xmlns:a16="http://schemas.microsoft.com/office/drawing/2014/main" id="{4AEF242F-00AB-85EC-117B-718EA71A265C}"/>
              </a:ext>
            </a:extLst>
          </p:cNvPr>
          <p:cNvSpPr txBox="1"/>
          <p:nvPr/>
        </p:nvSpPr>
        <p:spPr>
          <a:xfrm>
            <a:off x="9668932" y="6442728"/>
            <a:ext cx="2294467"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4">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Tree>
    <p:extLst>
      <p:ext uri="{BB962C8B-B14F-4D97-AF65-F5344CB8AC3E}">
        <p14:creationId xmlns:p14="http://schemas.microsoft.com/office/powerpoint/2010/main" val="1996338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901E-10D8-CFFF-3065-C225502186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88221A-8832-8C96-C170-CBED01537967}"/>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D98AFBF1-77A2-A1AE-6804-BAF745510822}"/>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B58F2220-CD0C-AA6B-22E8-32950079BBBE}"/>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8449B1BE-3B74-3115-913F-059B3FF3222C}"/>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4973603B-453C-01FF-377D-50F5A84EAFAA}"/>
              </a:ext>
            </a:extLst>
          </p:cNvPr>
          <p:cNvSpPr txBox="1"/>
          <p:nvPr/>
        </p:nvSpPr>
        <p:spPr>
          <a:xfrm>
            <a:off x="3927010" y="572452"/>
            <a:ext cx="3793065"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a16="http://schemas.microsoft.com/office/drawing/2014/main" id="{A68DB1BE-31AC-8EDA-73BD-3FE603DA8B9E}"/>
              </a:ext>
            </a:extLst>
          </p:cNvPr>
          <p:cNvSpPr txBox="1"/>
          <p:nvPr/>
        </p:nvSpPr>
        <p:spPr>
          <a:xfrm>
            <a:off x="262467" y="1813686"/>
            <a:ext cx="11616266" cy="4062651"/>
          </a:xfrm>
          <a:prstGeom prst="rect">
            <a:avLst/>
          </a:prstGeom>
          <a:noFill/>
        </p:spPr>
        <p:txBody>
          <a:bodyPr wrap="square" rtlCol="0">
            <a:spAutoFit/>
          </a:bodyPr>
          <a:lstStyle/>
          <a:p>
            <a:pPr>
              <a:buNone/>
            </a:pPr>
            <a:r>
              <a:rPr lang="en-US" sz="2000" dirty="0">
                <a:latin typeface="Times New Roman" panose="02020603050405020304" pitchFamily="18" charset="0"/>
                <a:cs typeface="Times New Roman" panose="02020603050405020304" pitchFamily="18" charset="0"/>
              </a:rPr>
              <a:t>Losing personal belongings is a common issue faced by people in public places, educational institutions, and workplaces. Retrieving these lost items can often be time-consuming, frustrating, and sometimes unsuccessful. To address this problem, the Lost and Found platform is developed as a digital solution that helps users report and search for lost or found items efficiently. This platform allows users to upload details and images of lost or found belongings, creating a centralized database accessible to all registered users. By leveraging intelligent search and filtering options, the system facilitates quicker and more accurate matching between lost and found reports, improving the chances of reuniting items with their rightful owners. The platform aims to simplify the reporting process, reduce manual searching efforts, and promote honesty among users by encouraging responsible behavior. Additionally, it provides accessibility across multiple devices, ensuring users can report or search for items anytime and anywhere. By creating a trustworthy and organized system, the Lost and Found platform enhances community cooperation and supports users in recovering their belongings efficiently, ultimately reducing the stress and inconvenience associated with lost items.</a:t>
            </a:r>
          </a:p>
          <a:p>
            <a:endParaRPr lang="en-IN" dirty="0"/>
          </a:p>
        </p:txBody>
      </p:sp>
      <p:sp>
        <p:nvSpPr>
          <p:cNvPr id="9" name="TextBox 8">
            <a:extLst>
              <a:ext uri="{FF2B5EF4-FFF2-40B4-BE49-F238E27FC236}">
                <a16:creationId xmlns:a16="http://schemas.microsoft.com/office/drawing/2014/main" id="{188FC603-3DCE-D7FA-CF10-C50D2EE7780E}"/>
              </a:ext>
            </a:extLst>
          </p:cNvPr>
          <p:cNvSpPr txBox="1"/>
          <p:nvPr/>
        </p:nvSpPr>
        <p:spPr>
          <a:xfrm>
            <a:off x="254326" y="6351779"/>
            <a:ext cx="4969933"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10" name="TextBox 9">
            <a:extLst>
              <a:ext uri="{FF2B5EF4-FFF2-40B4-BE49-F238E27FC236}">
                <a16:creationId xmlns:a16="http://schemas.microsoft.com/office/drawing/2014/main" id="{00161F1D-960B-339E-CCB7-9880CA5E757D}"/>
              </a:ext>
            </a:extLst>
          </p:cNvPr>
          <p:cNvSpPr txBox="1"/>
          <p:nvPr/>
        </p:nvSpPr>
        <p:spPr>
          <a:xfrm>
            <a:off x="9673166" y="6409063"/>
            <a:ext cx="2264508"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Tree>
    <p:extLst>
      <p:ext uri="{BB962C8B-B14F-4D97-AF65-F5344CB8AC3E}">
        <p14:creationId xmlns:p14="http://schemas.microsoft.com/office/powerpoint/2010/main" val="934001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FFBF-A8EE-DEAE-DAE7-EE50FB8EEC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AB48B4-02E4-16B9-E7E3-728E1BA6A0BA}"/>
              </a:ext>
            </a:extLst>
          </p:cNvPr>
          <p:cNvSpPr/>
          <p:nvPr/>
        </p:nvSpPr>
        <p:spPr>
          <a:xfrm>
            <a:off x="0" y="6286500"/>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4E24CD4B-81A8-04E2-B604-B56494AD8AE9}"/>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0F2EDB91-E051-4AA7-69F1-57892332F890}"/>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6FA5AAF6-D852-6B43-0A6D-02CC2467245C}"/>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A18CBB65-E555-A994-C3DB-E447ED10AD53}"/>
              </a:ext>
            </a:extLst>
          </p:cNvPr>
          <p:cNvSpPr txBox="1"/>
          <p:nvPr/>
        </p:nvSpPr>
        <p:spPr>
          <a:xfrm>
            <a:off x="2556933" y="778933"/>
            <a:ext cx="6764867"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C7AD37CC-3114-4564-CDA1-D1EA7B39F3F0}"/>
              </a:ext>
            </a:extLst>
          </p:cNvPr>
          <p:cNvSpPr txBox="1"/>
          <p:nvPr/>
        </p:nvSpPr>
        <p:spPr>
          <a:xfrm>
            <a:off x="368300" y="2314931"/>
            <a:ext cx="11455400"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Losing personal belongings such as wallets, phones, or ID cards in public places is a frequent problem that causes inconvenience, stress, and sometimes financial loss. Traditional methods of reporting lost and found items often involve manual processes, scattered records, or physical notice boards, which are inefficient and slow. Many times, lost items remain unrecovered due to lack of proper communication channels between the person who lost the item and the person who found it. This results in frustration for both parties and a low recovery rate of lost belongings. Moreover, the absence of a centralized system leads to confusion, duplication of efforts, and difficulty in tracking lost or found items. There is a clear need for a digital solution that can simplify and streamline the reporting and searching process, enhance communication, and improve the chances of recovering lost items quickly and efficiently. The Lost and Found platform aims to address these challenges by providing an organized and user-friendly online system.</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4C38EC8-11D9-184D-E322-F5720BBDB228}"/>
              </a:ext>
            </a:extLst>
          </p:cNvPr>
          <p:cNvSpPr txBox="1"/>
          <p:nvPr/>
        </p:nvSpPr>
        <p:spPr>
          <a:xfrm>
            <a:off x="262467" y="6410667"/>
            <a:ext cx="5122333"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9" name="TextBox 8">
            <a:extLst>
              <a:ext uri="{FF2B5EF4-FFF2-40B4-BE49-F238E27FC236}">
                <a16:creationId xmlns:a16="http://schemas.microsoft.com/office/drawing/2014/main" id="{390AC5DF-3674-4DAB-E76F-FC1627FD7C99}"/>
              </a:ext>
            </a:extLst>
          </p:cNvPr>
          <p:cNvSpPr txBox="1"/>
          <p:nvPr/>
        </p:nvSpPr>
        <p:spPr>
          <a:xfrm>
            <a:off x="9618132" y="6374697"/>
            <a:ext cx="2311401" cy="326371"/>
          </a:xfrm>
          <a:prstGeom prst="rect">
            <a:avLst/>
          </a:prstGeom>
          <a:noFill/>
        </p:spPr>
        <p:txBody>
          <a:bodyPr wrap="square" rtlCol="0">
            <a:spAutoFit/>
          </a:bodyPr>
          <a:lstStyle/>
          <a:p>
            <a:pPr marL="12700">
              <a:lnSpc>
                <a:spcPts val="1810"/>
              </a:lnSpc>
            </a:pPr>
            <a:r>
              <a:rPr lang="en-IN" spc="-25">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Tree>
    <p:extLst>
      <p:ext uri="{BB962C8B-B14F-4D97-AF65-F5344CB8AC3E}">
        <p14:creationId xmlns:p14="http://schemas.microsoft.com/office/powerpoint/2010/main" val="216545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92182-B334-16B3-9A73-FACCE825FCD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60E6C02-6362-6A23-6D4C-16AC20801D4D}"/>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95500247-2F4A-984D-0BD8-1FC24D53FD85}"/>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37553E52-7591-33DC-44C9-A91FC1233524}"/>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24A5F851-F85A-1CA4-30B6-1B13DE80FC78}"/>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9982C68C-081C-D76E-1A96-CB98633E0CEC}"/>
              </a:ext>
            </a:extLst>
          </p:cNvPr>
          <p:cNvSpPr txBox="1"/>
          <p:nvPr/>
        </p:nvSpPr>
        <p:spPr>
          <a:xfrm>
            <a:off x="2743199" y="528686"/>
            <a:ext cx="7247467"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System Specifications</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3FAEB7-97CC-A6AF-53E8-C91530C90DC7}"/>
              </a:ext>
            </a:extLst>
          </p:cNvPr>
          <p:cNvSpPr txBox="1"/>
          <p:nvPr/>
        </p:nvSpPr>
        <p:spPr>
          <a:xfrm>
            <a:off x="471405" y="1986802"/>
            <a:ext cx="3067662"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Backend Tools</a:t>
            </a:r>
          </a:p>
        </p:txBody>
      </p:sp>
      <p:sp>
        <p:nvSpPr>
          <p:cNvPr id="8" name="TextBox 7">
            <a:extLst>
              <a:ext uri="{FF2B5EF4-FFF2-40B4-BE49-F238E27FC236}">
                <a16:creationId xmlns:a16="http://schemas.microsoft.com/office/drawing/2014/main" id="{EFC94209-5BBB-04C3-8E5E-353A145A687F}"/>
              </a:ext>
            </a:extLst>
          </p:cNvPr>
          <p:cNvSpPr txBox="1"/>
          <p:nvPr/>
        </p:nvSpPr>
        <p:spPr>
          <a:xfrm>
            <a:off x="228600" y="2633133"/>
            <a:ext cx="4064001" cy="369332"/>
          </a:xfrm>
          <a:prstGeom prst="rect">
            <a:avLst/>
          </a:prstGeom>
          <a:noFill/>
        </p:spPr>
        <p:txBody>
          <a:bodyPr wrap="square" rtlCol="0">
            <a:spAutoFit/>
          </a:bodyPr>
          <a:lstStyle/>
          <a:p>
            <a:pPr marL="285750" indent="-285750">
              <a:buFont typeface="Wingdings" panose="05000000000000000000" pitchFamily="2" charset="2"/>
              <a:buChar char="q"/>
            </a:pPr>
            <a:endParaRPr lang="en-IN" dirty="0"/>
          </a:p>
        </p:txBody>
      </p:sp>
      <p:sp>
        <p:nvSpPr>
          <p:cNvPr id="13" name="TextBox 12">
            <a:extLst>
              <a:ext uri="{FF2B5EF4-FFF2-40B4-BE49-F238E27FC236}">
                <a16:creationId xmlns:a16="http://schemas.microsoft.com/office/drawing/2014/main" id="{D100A7FD-BD15-61AF-C983-44C4378C06BC}"/>
              </a:ext>
            </a:extLst>
          </p:cNvPr>
          <p:cNvSpPr txBox="1"/>
          <p:nvPr/>
        </p:nvSpPr>
        <p:spPr>
          <a:xfrm>
            <a:off x="736600" y="2633133"/>
            <a:ext cx="4064001" cy="3139321"/>
          </a:xfrm>
          <a:prstGeom prst="rect">
            <a:avLst/>
          </a:prstGeom>
          <a:noFill/>
        </p:spPr>
        <p:txBody>
          <a:bodyPr wrap="square" rtlCol="0">
            <a:spAutoFit/>
          </a:bodyPr>
          <a:lstStyle/>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Node.js(JavaScript)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Python(using  Flask or Django)</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Java(using Spring Boot)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PHP(Laravel)</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Ruby(Ruby on Rails)</a:t>
            </a:r>
          </a:p>
          <a:p>
            <a:pPr marL="285750" indent="-285750">
              <a:buFont typeface="Wingdings" panose="05000000000000000000" pitchFamily="2" charset="2"/>
              <a:buChar char="q"/>
            </a:pPr>
            <a:endParaRPr lang="en-IN" dirty="0"/>
          </a:p>
        </p:txBody>
      </p:sp>
      <p:sp>
        <p:nvSpPr>
          <p:cNvPr id="16" name="TextBox 15">
            <a:extLst>
              <a:ext uri="{FF2B5EF4-FFF2-40B4-BE49-F238E27FC236}">
                <a16:creationId xmlns:a16="http://schemas.microsoft.com/office/drawing/2014/main" id="{124DDC23-17B2-6544-5C6E-ECF4347E94B0}"/>
              </a:ext>
            </a:extLst>
          </p:cNvPr>
          <p:cNvSpPr txBox="1"/>
          <p:nvPr/>
        </p:nvSpPr>
        <p:spPr>
          <a:xfrm>
            <a:off x="6366933" y="1986802"/>
            <a:ext cx="3649134"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Frontend Tools</a:t>
            </a:r>
          </a:p>
        </p:txBody>
      </p:sp>
      <p:sp>
        <p:nvSpPr>
          <p:cNvPr id="17" name="TextBox 16">
            <a:extLst>
              <a:ext uri="{FF2B5EF4-FFF2-40B4-BE49-F238E27FC236}">
                <a16:creationId xmlns:a16="http://schemas.microsoft.com/office/drawing/2014/main" id="{66D9A5D6-C8E4-1374-3C32-D5008CDF05D3}"/>
              </a:ext>
            </a:extLst>
          </p:cNvPr>
          <p:cNvSpPr txBox="1"/>
          <p:nvPr/>
        </p:nvSpPr>
        <p:spPr>
          <a:xfrm>
            <a:off x="6561667" y="2717800"/>
            <a:ext cx="4368801" cy="1631216"/>
          </a:xfrm>
          <a:prstGeom prst="rect">
            <a:avLst/>
          </a:prstGeom>
          <a:noFill/>
        </p:spPr>
        <p:txBody>
          <a:bodyPr wrap="square" rtlCol="0">
            <a:spAutoFit/>
          </a:bodyPr>
          <a:lstStyle/>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HTML5(Structure of web pages)</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CSS3(Styling or Layout)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JavaScript(Interactive Functionally)</a:t>
            </a:r>
          </a:p>
        </p:txBody>
      </p:sp>
      <p:sp>
        <p:nvSpPr>
          <p:cNvPr id="9" name="TextBox 8">
            <a:extLst>
              <a:ext uri="{FF2B5EF4-FFF2-40B4-BE49-F238E27FC236}">
                <a16:creationId xmlns:a16="http://schemas.microsoft.com/office/drawing/2014/main" id="{3C9425D4-C49D-E52A-077C-D6B3D7550BDC}"/>
              </a:ext>
            </a:extLst>
          </p:cNvPr>
          <p:cNvSpPr txBox="1"/>
          <p:nvPr/>
        </p:nvSpPr>
        <p:spPr>
          <a:xfrm>
            <a:off x="9609667" y="6409063"/>
            <a:ext cx="2332568"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
        <p:nvSpPr>
          <p:cNvPr id="10" name="TextBox 9">
            <a:extLst>
              <a:ext uri="{FF2B5EF4-FFF2-40B4-BE49-F238E27FC236}">
                <a16:creationId xmlns:a16="http://schemas.microsoft.com/office/drawing/2014/main" id="{487A558B-D8F2-0708-6BA9-94D4B4BC8524}"/>
              </a:ext>
            </a:extLst>
          </p:cNvPr>
          <p:cNvSpPr txBox="1"/>
          <p:nvPr/>
        </p:nvSpPr>
        <p:spPr>
          <a:xfrm>
            <a:off x="249765" y="6387583"/>
            <a:ext cx="4986867"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Tree>
    <p:extLst>
      <p:ext uri="{BB962C8B-B14F-4D97-AF65-F5344CB8AC3E}">
        <p14:creationId xmlns:p14="http://schemas.microsoft.com/office/powerpoint/2010/main" val="996543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52D7-C408-74C8-D7EC-C3E8413756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0383B8-B77D-32D6-212D-1A62557B059E}"/>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DC703E30-F4FF-DDDE-3178-DFD6579AB63E}"/>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F1D43AD3-8FD8-8A20-089F-BBB7A705AB95}"/>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A8703E8D-85D6-3D98-893B-B46E47843BC4}"/>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26A17E2D-0193-A196-3AE7-75EC93C5E03C}"/>
              </a:ext>
            </a:extLst>
          </p:cNvPr>
          <p:cNvSpPr txBox="1"/>
          <p:nvPr/>
        </p:nvSpPr>
        <p:spPr>
          <a:xfrm>
            <a:off x="3530600" y="711200"/>
            <a:ext cx="54864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Hardware Requirements</a:t>
            </a:r>
          </a:p>
        </p:txBody>
      </p:sp>
      <p:sp>
        <p:nvSpPr>
          <p:cNvPr id="3" name="TextBox 2">
            <a:extLst>
              <a:ext uri="{FF2B5EF4-FFF2-40B4-BE49-F238E27FC236}">
                <a16:creationId xmlns:a16="http://schemas.microsoft.com/office/drawing/2014/main" id="{94E01F6F-8878-D87E-35DD-73FFDD597718}"/>
              </a:ext>
            </a:extLst>
          </p:cNvPr>
          <p:cNvSpPr txBox="1"/>
          <p:nvPr/>
        </p:nvSpPr>
        <p:spPr>
          <a:xfrm>
            <a:off x="1354667" y="2379133"/>
            <a:ext cx="7992533" cy="2862322"/>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Device Name: </a:t>
            </a:r>
            <a:r>
              <a:rPr lang="en-IN" sz="2000" dirty="0">
                <a:latin typeface="Times New Roman" panose="02020603050405020304" pitchFamily="18" charset="0"/>
                <a:cs typeface="Times New Roman" panose="02020603050405020304" pitchFamily="18" charset="0"/>
              </a:rPr>
              <a:t>Any modern PC/Laptop(</a:t>
            </a:r>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Dell Inspiron, HP Pavilion)</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Processor(CPU): </a:t>
            </a:r>
            <a:r>
              <a:rPr lang="en-IN" sz="2000" dirty="0">
                <a:latin typeface="Times New Roman" panose="02020603050405020304" pitchFamily="18" charset="0"/>
                <a:cs typeface="Times New Roman" panose="02020603050405020304" pitchFamily="18" charset="0"/>
              </a:rPr>
              <a:t>Dual-Core 2.0 GHz+(Intel i3/AMD equivalent)</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Installed RAM: </a:t>
            </a:r>
            <a:r>
              <a:rPr lang="en-IN" sz="2000" dirty="0">
                <a:latin typeface="Times New Roman" panose="02020603050405020304" pitchFamily="18" charset="0"/>
                <a:cs typeface="Times New Roman" panose="02020603050405020304" pitchFamily="18" charset="0"/>
              </a:rPr>
              <a:t>4GB</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Storage: </a:t>
            </a:r>
            <a:r>
              <a:rPr lang="en-IN" sz="2000" dirty="0">
                <a:latin typeface="Times New Roman" panose="02020603050405020304" pitchFamily="18" charset="0"/>
                <a:cs typeface="Times New Roman" panose="02020603050405020304" pitchFamily="18" charset="0"/>
              </a:rPr>
              <a:t>256GB HDD/SSD</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Graphics Card: </a:t>
            </a:r>
            <a:r>
              <a:rPr lang="en-IN" sz="2000" dirty="0">
                <a:latin typeface="Times New Roman" panose="02020603050405020304" pitchFamily="18" charset="0"/>
                <a:cs typeface="Times New Roman" panose="02020603050405020304" pitchFamily="18" charset="0"/>
              </a:rPr>
              <a:t>Integrated GPU(Intel UHD/AMD Vega)</a:t>
            </a:r>
            <a:endParaRPr lang="en-IN"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83C8B82-D42A-5670-4862-275B20DBF679}"/>
              </a:ext>
            </a:extLst>
          </p:cNvPr>
          <p:cNvSpPr txBox="1"/>
          <p:nvPr/>
        </p:nvSpPr>
        <p:spPr>
          <a:xfrm>
            <a:off x="237065" y="6387583"/>
            <a:ext cx="5604933"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9" name="TextBox 8">
            <a:extLst>
              <a:ext uri="{FF2B5EF4-FFF2-40B4-BE49-F238E27FC236}">
                <a16:creationId xmlns:a16="http://schemas.microsoft.com/office/drawing/2014/main" id="{CA4E3DD8-2B7F-5C95-2781-0A0B883F4456}"/>
              </a:ext>
            </a:extLst>
          </p:cNvPr>
          <p:cNvSpPr txBox="1"/>
          <p:nvPr/>
        </p:nvSpPr>
        <p:spPr>
          <a:xfrm>
            <a:off x="9685869" y="6387583"/>
            <a:ext cx="2269066"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Tree>
    <p:extLst>
      <p:ext uri="{BB962C8B-B14F-4D97-AF65-F5344CB8AC3E}">
        <p14:creationId xmlns:p14="http://schemas.microsoft.com/office/powerpoint/2010/main" val="118831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493BE-F9FB-7D35-C7C9-696C3698CBA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6410A35-3CD8-3281-6E7B-DEBF1D97BF11}"/>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56B8A17D-6AC9-5439-0DFE-CAD190389F54}"/>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05F29CA0-C559-EE9B-CD43-CDD15C066A57}"/>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C2174A90-2C42-341A-7721-016A593ABD3E}"/>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BA67CBB9-FB30-0E17-06DE-B41F2258A83E}"/>
              </a:ext>
            </a:extLst>
          </p:cNvPr>
          <p:cNvSpPr txBox="1"/>
          <p:nvPr/>
        </p:nvSpPr>
        <p:spPr>
          <a:xfrm>
            <a:off x="3598333" y="821267"/>
            <a:ext cx="466513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Software Requirements</a:t>
            </a:r>
          </a:p>
        </p:txBody>
      </p:sp>
      <p:sp>
        <p:nvSpPr>
          <p:cNvPr id="8" name="TextBox 7">
            <a:extLst>
              <a:ext uri="{FF2B5EF4-FFF2-40B4-BE49-F238E27FC236}">
                <a16:creationId xmlns:a16="http://schemas.microsoft.com/office/drawing/2014/main" id="{7E4070DB-176C-C69A-E78A-7733DCA7155A}"/>
              </a:ext>
            </a:extLst>
          </p:cNvPr>
          <p:cNvSpPr txBox="1"/>
          <p:nvPr/>
        </p:nvSpPr>
        <p:spPr>
          <a:xfrm>
            <a:off x="973667" y="2192867"/>
            <a:ext cx="9956800" cy="3477875"/>
          </a:xfrm>
          <a:prstGeom prst="rect">
            <a:avLst/>
          </a:prstGeom>
          <a:noFill/>
        </p:spPr>
        <p:txBody>
          <a:bodyPr wrap="square" rtlCol="0">
            <a:spAutoFit/>
          </a:bodyPr>
          <a:lstStyle/>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Operating System: </a:t>
            </a:r>
            <a:r>
              <a:rPr lang="en-IN" sz="2000" dirty="0">
                <a:latin typeface="Times New Roman" panose="02020603050405020304" pitchFamily="18" charset="0"/>
                <a:cs typeface="Times New Roman" panose="02020603050405020304" pitchFamily="18" charset="0"/>
              </a:rPr>
              <a:t>Windows/Linux/macOS, Android/iOS</a:t>
            </a:r>
          </a:p>
          <a:p>
            <a:pPr marL="285750" indent="-28575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Web Server: </a:t>
            </a:r>
            <a:r>
              <a:rPr lang="en-IN" sz="2000" dirty="0">
                <a:latin typeface="Times New Roman" panose="02020603050405020304" pitchFamily="18" charset="0"/>
                <a:cs typeface="Times New Roman" panose="02020603050405020304" pitchFamily="18" charset="0"/>
              </a:rPr>
              <a:t>Apache,Node.js Express Server</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Database Server: </a:t>
            </a:r>
            <a:r>
              <a:rPr lang="en-IN" sz="2000" dirty="0">
                <a:latin typeface="Times New Roman" panose="02020603050405020304" pitchFamily="18" charset="0"/>
                <a:cs typeface="Times New Roman" panose="02020603050405020304" pitchFamily="18" charset="0"/>
              </a:rPr>
              <a:t>MYSQL/PostgreSQL/MongoDB</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IDE/Text Editor: </a:t>
            </a:r>
            <a:r>
              <a:rPr lang="en-IN" sz="2000" dirty="0">
                <a:latin typeface="Times New Roman" panose="02020603050405020304" pitchFamily="18" charset="0"/>
                <a:cs typeface="Times New Roman" panose="02020603050405020304" pitchFamily="18" charset="0"/>
              </a:rPr>
              <a:t>Visual Studio Code, IntelliJ IDEA/Eclipse, PyCharm</a:t>
            </a:r>
          </a:p>
          <a:p>
            <a:pPr marL="342900" indent="-34290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Browser: </a:t>
            </a:r>
            <a:r>
              <a:rPr lang="en-IN" sz="2000" dirty="0">
                <a:latin typeface="Times New Roman" panose="02020603050405020304" pitchFamily="18" charset="0"/>
                <a:cs typeface="Times New Roman" panose="02020603050405020304" pitchFamily="18" charset="0"/>
              </a:rPr>
              <a:t>Google Chrome, Mozilla Firefox, Microsoft Edge(for testing and usage)</a:t>
            </a: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A453597-EE22-E623-273E-0D23391DC5D5}"/>
              </a:ext>
            </a:extLst>
          </p:cNvPr>
          <p:cNvSpPr txBox="1"/>
          <p:nvPr/>
        </p:nvSpPr>
        <p:spPr>
          <a:xfrm>
            <a:off x="9643533" y="6409063"/>
            <a:ext cx="2286000"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
        <p:nvSpPr>
          <p:cNvPr id="9" name="TextBox 8">
            <a:extLst>
              <a:ext uri="{FF2B5EF4-FFF2-40B4-BE49-F238E27FC236}">
                <a16:creationId xmlns:a16="http://schemas.microsoft.com/office/drawing/2014/main" id="{5A80942D-2928-A166-46E3-6DEF487B5F8F}"/>
              </a:ext>
            </a:extLst>
          </p:cNvPr>
          <p:cNvSpPr txBox="1"/>
          <p:nvPr/>
        </p:nvSpPr>
        <p:spPr>
          <a:xfrm>
            <a:off x="262467" y="6378687"/>
            <a:ext cx="5308600"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Tree>
    <p:extLst>
      <p:ext uri="{BB962C8B-B14F-4D97-AF65-F5344CB8AC3E}">
        <p14:creationId xmlns:p14="http://schemas.microsoft.com/office/powerpoint/2010/main" val="562253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5320-F54B-4272-F1C5-A53FD7C740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5A4D6A-B33A-E22A-DBEC-476774DF4824}"/>
              </a:ext>
            </a:extLst>
          </p:cNvPr>
          <p:cNvSpPr/>
          <p:nvPr/>
        </p:nvSpPr>
        <p:spPr>
          <a:xfrm>
            <a:off x="0" y="6311856"/>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D60F48B5-08DD-5C4C-C988-4AF253C08D72}"/>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C8AC961D-AD2B-10D6-301F-050525E2892E}"/>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5197E2AF-4EA2-719A-B389-A7364D04CF73}"/>
                </a:ext>
              </a:extLst>
            </p:cNvPr>
            <p:cNvPicPr/>
            <p:nvPr/>
          </p:nvPicPr>
          <p:blipFill>
            <a:blip r:embed="rId2" cstate="print"/>
            <a:stretch>
              <a:fillRect/>
            </a:stretch>
          </p:blipFill>
          <p:spPr>
            <a:xfrm>
              <a:off x="501383" y="109981"/>
              <a:ext cx="1801876" cy="1576450"/>
            </a:xfrm>
            <a:prstGeom prst="rect">
              <a:avLst/>
            </a:prstGeom>
          </p:spPr>
        </p:pic>
      </p:grpSp>
      <p:sp>
        <p:nvSpPr>
          <p:cNvPr id="3" name="TextBox 2">
            <a:extLst>
              <a:ext uri="{FF2B5EF4-FFF2-40B4-BE49-F238E27FC236}">
                <a16:creationId xmlns:a16="http://schemas.microsoft.com/office/drawing/2014/main" id="{56E0611A-A6E3-DEDF-86E5-851E423DA3A7}"/>
              </a:ext>
            </a:extLst>
          </p:cNvPr>
          <p:cNvSpPr txBox="1"/>
          <p:nvPr/>
        </p:nvSpPr>
        <p:spPr>
          <a:xfrm>
            <a:off x="2683933" y="575733"/>
            <a:ext cx="8771467"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Tools &amp; Technologies Used-Web Applications</a:t>
            </a:r>
          </a:p>
        </p:txBody>
      </p:sp>
      <p:sp>
        <p:nvSpPr>
          <p:cNvPr id="8" name="TextBox 7">
            <a:extLst>
              <a:ext uri="{FF2B5EF4-FFF2-40B4-BE49-F238E27FC236}">
                <a16:creationId xmlns:a16="http://schemas.microsoft.com/office/drawing/2014/main" id="{77E14B09-C34C-1161-B426-51E21244D274}"/>
              </a:ext>
            </a:extLst>
          </p:cNvPr>
          <p:cNvSpPr txBox="1"/>
          <p:nvPr/>
        </p:nvSpPr>
        <p:spPr>
          <a:xfrm>
            <a:off x="575733" y="2006600"/>
            <a:ext cx="10414000" cy="2862322"/>
          </a:xfrm>
          <a:prstGeom prst="rect">
            <a:avLst/>
          </a:prstGeom>
          <a:noFill/>
        </p:spPr>
        <p:txBody>
          <a:bodyPr wrap="square" rtlCol="0">
            <a:spAutoFit/>
          </a:bodyPr>
          <a:lstStyle/>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Programming Languages: </a:t>
            </a:r>
            <a:r>
              <a:rPr lang="en-IN" sz="2000" dirty="0">
                <a:latin typeface="Times New Roman" panose="02020603050405020304" pitchFamily="18" charset="0"/>
                <a:cs typeface="Times New Roman" panose="02020603050405020304" pitchFamily="18" charset="0"/>
              </a:rPr>
              <a:t>HTML, CSS, JavaScript, Python/Java/PHP/Node.js</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Frameworks: </a:t>
            </a:r>
            <a:r>
              <a:rPr lang="en-IN" sz="2000" dirty="0">
                <a:latin typeface="Times New Roman" panose="02020603050405020304" pitchFamily="18" charset="0"/>
                <a:cs typeface="Times New Roman" panose="02020603050405020304" pitchFamily="18" charset="0"/>
              </a:rPr>
              <a:t>React/Angular (Frontend),Django/Laravel(Backend),Bootstrap/Tailwind CSS(UI)</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Development Tools: </a:t>
            </a:r>
            <a:r>
              <a:rPr lang="en-IN" sz="2000" dirty="0">
                <a:latin typeface="Times New Roman" panose="02020603050405020304" pitchFamily="18" charset="0"/>
                <a:cs typeface="Times New Roman" panose="02020603050405020304" pitchFamily="18" charset="0"/>
              </a:rPr>
              <a:t>Visual Studio Code, GitHub, Postman, Jira</a:t>
            </a:r>
            <a:r>
              <a:rPr lang="en-IN" sz="2000" b="1"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Database: </a:t>
            </a:r>
            <a:r>
              <a:rPr lang="en-IN" sz="2000" dirty="0">
                <a:latin typeface="Times New Roman" panose="02020603050405020304" pitchFamily="18" charset="0"/>
                <a:cs typeface="Times New Roman" panose="02020603050405020304" pitchFamily="18" charset="0"/>
              </a:rPr>
              <a:t>MySQL/PostgreSQL</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Payment Gateway: </a:t>
            </a:r>
            <a:r>
              <a:rPr lang="en-IN" sz="2000" dirty="0">
                <a:latin typeface="Times New Roman" panose="02020603050405020304" pitchFamily="18" charset="0"/>
                <a:cs typeface="Times New Roman" panose="02020603050405020304" pitchFamily="18" charset="0"/>
              </a:rPr>
              <a:t>PayPal, Stripe, Razor pay</a:t>
            </a:r>
            <a:endParaRPr lang="en-IN"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8D817AC-A5AE-E5A3-EB2A-1A21D33E8A5C}"/>
              </a:ext>
            </a:extLst>
          </p:cNvPr>
          <p:cNvSpPr txBox="1"/>
          <p:nvPr/>
        </p:nvSpPr>
        <p:spPr>
          <a:xfrm>
            <a:off x="292099" y="6436024"/>
            <a:ext cx="4919133" cy="323165"/>
          </a:xfrm>
          <a:prstGeom prst="rect">
            <a:avLst/>
          </a:prstGeom>
          <a:noFill/>
        </p:spPr>
        <p:txBody>
          <a:bodyPr wrap="square" rtlCol="0">
            <a:spAutoFit/>
          </a:bodyPr>
          <a:lstStyle/>
          <a:p>
            <a:pPr marL="12700">
              <a:lnSpc>
                <a:spcPts val="1810"/>
              </a:lnSpc>
            </a:pPr>
            <a:r>
              <a:rPr lang="en-US" i="1" spc="-25" dirty="0">
                <a:solidFill>
                  <a:schemeClr val="bg1"/>
                </a:solidFill>
                <a:latin typeface="Times New Roman" panose="02020603050405020304" pitchFamily="18" charset="0"/>
                <a:cs typeface="Times New Roman" panose="02020603050405020304" pitchFamily="18" charset="0"/>
              </a:rPr>
              <a:t>Department</a:t>
            </a:r>
            <a:r>
              <a:rPr lang="en-US" i="1" spc="-50"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of</a:t>
            </a:r>
            <a:r>
              <a:rPr lang="en-US" i="1" spc="-10" dirty="0">
                <a:solidFill>
                  <a:schemeClr val="bg1"/>
                </a:solidFill>
                <a:latin typeface="Times New Roman" panose="02020603050405020304" pitchFamily="18" charset="0"/>
                <a:cs typeface="Times New Roman" panose="02020603050405020304" pitchFamily="18" charset="0"/>
              </a:rPr>
              <a:t>  Computer Science and </a:t>
            </a:r>
            <a:r>
              <a:rPr lang="en-US" spc="-10" dirty="0">
                <a:solidFill>
                  <a:schemeClr val="bg1"/>
                </a:solidFill>
                <a:latin typeface="Times New Roman" panose="02020603050405020304" pitchFamily="18" charset="0"/>
                <a:cs typeface="Times New Roman" panose="02020603050405020304" pitchFamily="18" charset="0"/>
              </a:rPr>
              <a:t>Engineering</a:t>
            </a:r>
          </a:p>
        </p:txBody>
      </p:sp>
      <p:sp>
        <p:nvSpPr>
          <p:cNvPr id="9" name="TextBox 8">
            <a:extLst>
              <a:ext uri="{FF2B5EF4-FFF2-40B4-BE49-F238E27FC236}">
                <a16:creationId xmlns:a16="http://schemas.microsoft.com/office/drawing/2014/main" id="{80B12B17-D5BC-639F-4E4D-F0F532E6EC24}"/>
              </a:ext>
            </a:extLst>
          </p:cNvPr>
          <p:cNvSpPr txBox="1"/>
          <p:nvPr/>
        </p:nvSpPr>
        <p:spPr>
          <a:xfrm>
            <a:off x="9622368" y="6432818"/>
            <a:ext cx="2277533"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Tree>
    <p:extLst>
      <p:ext uri="{BB962C8B-B14F-4D97-AF65-F5344CB8AC3E}">
        <p14:creationId xmlns:p14="http://schemas.microsoft.com/office/powerpoint/2010/main" val="2384782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7E8E-9006-B747-1F4C-6A83E879F2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23562E-504D-38D0-1BF6-3C5BC210657F}"/>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A2113CA6-96F9-D26B-30BF-EEC5AF9B5B48}"/>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BDAD2E9F-58EB-0C99-05BF-9A4F8A8BF188}"/>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65915D2A-4049-3F16-3EDC-62220B5F5131}"/>
                </a:ext>
              </a:extLst>
            </p:cNvPr>
            <p:cNvPicPr/>
            <p:nvPr/>
          </p:nvPicPr>
          <p:blipFill>
            <a:blip r:embed="rId2" cstate="print"/>
            <a:stretch>
              <a:fillRect/>
            </a:stretch>
          </p:blipFill>
          <p:spPr>
            <a:xfrm>
              <a:off x="501383" y="109981"/>
              <a:ext cx="1801876" cy="1576450"/>
            </a:xfrm>
            <a:prstGeom prst="rect">
              <a:avLst/>
            </a:prstGeom>
          </p:spPr>
        </p:pic>
      </p:grpSp>
      <p:pic>
        <p:nvPicPr>
          <p:cNvPr id="3" name="Picture 2">
            <a:extLst>
              <a:ext uri="{FF2B5EF4-FFF2-40B4-BE49-F238E27FC236}">
                <a16:creationId xmlns:a16="http://schemas.microsoft.com/office/drawing/2014/main" id="{C7665EEA-D996-6C4B-827A-0C8F1C052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83" y="2753573"/>
            <a:ext cx="4341550" cy="3274694"/>
          </a:xfrm>
          <a:prstGeom prst="rect">
            <a:avLst/>
          </a:prstGeom>
        </p:spPr>
      </p:pic>
      <p:pic>
        <p:nvPicPr>
          <p:cNvPr id="10" name="Picture 9">
            <a:extLst>
              <a:ext uri="{FF2B5EF4-FFF2-40B4-BE49-F238E27FC236}">
                <a16:creationId xmlns:a16="http://schemas.microsoft.com/office/drawing/2014/main" id="{67A5F53D-6FED-8922-43B9-DCABC84241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5799" y="2672265"/>
            <a:ext cx="5748868" cy="3356002"/>
          </a:xfrm>
          <a:prstGeom prst="rect">
            <a:avLst/>
          </a:prstGeom>
        </p:spPr>
      </p:pic>
      <p:sp>
        <p:nvSpPr>
          <p:cNvPr id="11" name="TextBox 10">
            <a:extLst>
              <a:ext uri="{FF2B5EF4-FFF2-40B4-BE49-F238E27FC236}">
                <a16:creationId xmlns:a16="http://schemas.microsoft.com/office/drawing/2014/main" id="{8E33D808-5CA4-58B4-BD07-C80E25CC1444}"/>
              </a:ext>
            </a:extLst>
          </p:cNvPr>
          <p:cNvSpPr txBox="1"/>
          <p:nvPr/>
        </p:nvSpPr>
        <p:spPr>
          <a:xfrm>
            <a:off x="560014" y="2130928"/>
            <a:ext cx="3310467" cy="369332"/>
          </a:xfrm>
          <a:prstGeom prst="rect">
            <a:avLst/>
          </a:prstGeom>
          <a:noFill/>
        </p:spPr>
        <p:txBody>
          <a:bodyPr wrap="square" rtlCol="0">
            <a:spAutoFit/>
          </a:bodyPr>
          <a:lstStyle/>
          <a:p>
            <a:pPr algn="ctr"/>
            <a:r>
              <a:rPr lang="en-US" b="1" dirty="0">
                <a:latin typeface="Times New Roman" panose="02020603050405020304" pitchFamily="18" charset="0"/>
                <a:ea typeface="Tahoma" panose="020B0604030504040204" pitchFamily="34" charset="0"/>
                <a:cs typeface="Times New Roman" panose="02020603050405020304" pitchFamily="18" charset="0"/>
              </a:rPr>
              <a:t>Flow Chart</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F79A71C-085A-BBF1-9D30-4FEFB0FCC198}"/>
              </a:ext>
            </a:extLst>
          </p:cNvPr>
          <p:cNvSpPr txBox="1"/>
          <p:nvPr/>
        </p:nvSpPr>
        <p:spPr>
          <a:xfrm>
            <a:off x="6934200" y="2302933"/>
            <a:ext cx="303953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ER Diagram</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EA63BF4-E683-9A0F-AC02-6227E7577603}"/>
              </a:ext>
            </a:extLst>
          </p:cNvPr>
          <p:cNvSpPr txBox="1"/>
          <p:nvPr/>
        </p:nvSpPr>
        <p:spPr>
          <a:xfrm>
            <a:off x="9635068" y="6387583"/>
            <a:ext cx="2302932"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5">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
        <p:nvSpPr>
          <p:cNvPr id="8" name="TextBox 7">
            <a:extLst>
              <a:ext uri="{FF2B5EF4-FFF2-40B4-BE49-F238E27FC236}">
                <a16:creationId xmlns:a16="http://schemas.microsoft.com/office/drawing/2014/main" id="{E49D0EA4-FD7D-0238-7338-E5B8573FE96C}"/>
              </a:ext>
            </a:extLst>
          </p:cNvPr>
          <p:cNvSpPr txBox="1"/>
          <p:nvPr/>
        </p:nvSpPr>
        <p:spPr>
          <a:xfrm>
            <a:off x="254000" y="6390789"/>
            <a:ext cx="4969933" cy="323165"/>
          </a:xfrm>
          <a:prstGeom prst="rect">
            <a:avLst/>
          </a:prstGeom>
          <a:noFill/>
        </p:spPr>
        <p:txBody>
          <a:bodyPr wrap="square" rtlCol="0">
            <a:spAutoFit/>
          </a:bodyPr>
          <a:lstStyle/>
          <a:p>
            <a:pPr marL="12700">
              <a:lnSpc>
                <a:spcPts val="1810"/>
              </a:lnSpc>
            </a:pPr>
            <a:r>
              <a:rPr lang="en-US" i="1" spc="-25">
                <a:solidFill>
                  <a:schemeClr val="bg1"/>
                </a:solidFill>
                <a:latin typeface="Times New Roman" panose="02020603050405020304" pitchFamily="18" charset="0"/>
                <a:cs typeface="Times New Roman" panose="02020603050405020304" pitchFamily="18" charset="0"/>
              </a:rPr>
              <a:t>Department</a:t>
            </a:r>
            <a:r>
              <a:rPr lang="en-US" i="1" spc="-50">
                <a:solidFill>
                  <a:schemeClr val="bg1"/>
                </a:solidFill>
                <a:latin typeface="Times New Roman" panose="02020603050405020304" pitchFamily="18" charset="0"/>
                <a:cs typeface="Times New Roman" panose="02020603050405020304" pitchFamily="18" charset="0"/>
              </a:rPr>
              <a:t> </a:t>
            </a:r>
            <a:r>
              <a:rPr lang="en-US" i="1">
                <a:solidFill>
                  <a:schemeClr val="bg1"/>
                </a:solidFill>
                <a:latin typeface="Times New Roman" panose="02020603050405020304" pitchFamily="18" charset="0"/>
                <a:cs typeface="Times New Roman" panose="02020603050405020304" pitchFamily="18" charset="0"/>
              </a:rPr>
              <a:t>of</a:t>
            </a:r>
            <a:r>
              <a:rPr lang="en-US" i="1" spc="-10">
                <a:solidFill>
                  <a:schemeClr val="bg1"/>
                </a:solidFill>
                <a:latin typeface="Times New Roman" panose="02020603050405020304" pitchFamily="18" charset="0"/>
                <a:cs typeface="Times New Roman" panose="02020603050405020304" pitchFamily="18" charset="0"/>
              </a:rPr>
              <a:t>  Computer Science and </a:t>
            </a:r>
            <a:r>
              <a:rPr lang="en-US" spc="-10">
                <a:solidFill>
                  <a:schemeClr val="bg1"/>
                </a:solidFill>
                <a:latin typeface="Times New Roman" panose="02020603050405020304" pitchFamily="18" charset="0"/>
                <a:cs typeface="Times New Roman" panose="02020603050405020304" pitchFamily="18" charset="0"/>
              </a:rPr>
              <a:t>Engineering</a:t>
            </a:r>
            <a:endParaRPr lang="en-US" spc="-1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687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0731-43C5-519E-ED41-8D6C706CB0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B52849-C771-C6CD-A9B1-6F358CF7FFE5}"/>
              </a:ext>
            </a:extLst>
          </p:cNvPr>
          <p:cNvSpPr/>
          <p:nvPr/>
        </p:nvSpPr>
        <p:spPr>
          <a:xfrm>
            <a:off x="0" y="6286499"/>
            <a:ext cx="12192000" cy="571500"/>
          </a:xfrm>
          <a:custGeom>
            <a:avLst/>
            <a:gdLst/>
            <a:ahLst/>
            <a:cxnLst/>
            <a:rect l="l" t="t" r="r" b="b"/>
            <a:pathLst>
              <a:path w="12192000" h="571500">
                <a:moveTo>
                  <a:pt x="12192000" y="0"/>
                </a:moveTo>
                <a:lnTo>
                  <a:pt x="0" y="0"/>
                </a:lnTo>
                <a:lnTo>
                  <a:pt x="0" y="571499"/>
                </a:lnTo>
                <a:lnTo>
                  <a:pt x="12192000" y="571499"/>
                </a:lnTo>
                <a:lnTo>
                  <a:pt x="12192000" y="0"/>
                </a:lnTo>
                <a:close/>
              </a:path>
            </a:pathLst>
          </a:custGeom>
          <a:solidFill>
            <a:srgbClr val="00092F"/>
          </a:solidFill>
        </p:spPr>
        <p:txBody>
          <a:bodyPr wrap="square" lIns="0" tIns="0" rIns="0" bIns="0" rtlCol="0"/>
          <a:lstStyle/>
          <a:p>
            <a:endParaRPr/>
          </a:p>
        </p:txBody>
      </p:sp>
      <p:grpSp>
        <p:nvGrpSpPr>
          <p:cNvPr id="5" name="object 5">
            <a:extLst>
              <a:ext uri="{FF2B5EF4-FFF2-40B4-BE49-F238E27FC236}">
                <a16:creationId xmlns:a16="http://schemas.microsoft.com/office/drawing/2014/main" id="{8ACB9520-7E4E-DA04-376E-6B5F202FF0EA}"/>
              </a:ext>
            </a:extLst>
          </p:cNvPr>
          <p:cNvGrpSpPr/>
          <p:nvPr/>
        </p:nvGrpSpPr>
        <p:grpSpPr>
          <a:xfrm>
            <a:off x="501383" y="0"/>
            <a:ext cx="1802130" cy="1703705"/>
            <a:chOff x="501383" y="0"/>
            <a:chExt cx="1802130" cy="1703705"/>
          </a:xfrm>
        </p:grpSpPr>
        <p:sp>
          <p:nvSpPr>
            <p:cNvPr id="6" name="object 6">
              <a:extLst>
                <a:ext uri="{FF2B5EF4-FFF2-40B4-BE49-F238E27FC236}">
                  <a16:creationId xmlns:a16="http://schemas.microsoft.com/office/drawing/2014/main" id="{40D8500C-CA56-5A54-A195-4660F0A5CFDE}"/>
                </a:ext>
              </a:extLst>
            </p:cNvPr>
            <p:cNvSpPr/>
            <p:nvPr/>
          </p:nvSpPr>
          <p:spPr>
            <a:xfrm>
              <a:off x="502018" y="0"/>
              <a:ext cx="1713230" cy="1703705"/>
            </a:xfrm>
            <a:custGeom>
              <a:avLst/>
              <a:gdLst/>
              <a:ahLst/>
              <a:cxnLst/>
              <a:rect l="l" t="t" r="r" b="b"/>
              <a:pathLst>
                <a:path w="1713230" h="1703705">
                  <a:moveTo>
                    <a:pt x="1712849" y="0"/>
                  </a:moveTo>
                  <a:lnTo>
                    <a:pt x="0" y="0"/>
                  </a:lnTo>
                  <a:lnTo>
                    <a:pt x="0" y="1703324"/>
                  </a:lnTo>
                  <a:lnTo>
                    <a:pt x="1712849" y="1703324"/>
                  </a:lnTo>
                  <a:lnTo>
                    <a:pt x="1712849" y="0"/>
                  </a:lnTo>
                  <a:close/>
                </a:path>
              </a:pathLst>
            </a:custGeom>
            <a:solidFill>
              <a:srgbClr val="00092F"/>
            </a:solidFill>
          </p:spPr>
          <p:txBody>
            <a:bodyPr wrap="square" lIns="0" tIns="0" rIns="0" bIns="0" rtlCol="0"/>
            <a:lstStyle/>
            <a:p>
              <a:endParaRPr/>
            </a:p>
          </p:txBody>
        </p:sp>
        <p:pic>
          <p:nvPicPr>
            <p:cNvPr id="7" name="object 7">
              <a:extLst>
                <a:ext uri="{FF2B5EF4-FFF2-40B4-BE49-F238E27FC236}">
                  <a16:creationId xmlns:a16="http://schemas.microsoft.com/office/drawing/2014/main" id="{17816310-A69B-83F9-23F2-F0C908CEE1DA}"/>
                </a:ext>
              </a:extLst>
            </p:cNvPr>
            <p:cNvPicPr/>
            <p:nvPr/>
          </p:nvPicPr>
          <p:blipFill>
            <a:blip r:embed="rId2" cstate="print"/>
            <a:stretch>
              <a:fillRect/>
            </a:stretch>
          </p:blipFill>
          <p:spPr>
            <a:xfrm>
              <a:off x="501383" y="109981"/>
              <a:ext cx="1801876" cy="1576450"/>
            </a:xfrm>
            <a:prstGeom prst="rect">
              <a:avLst/>
            </a:prstGeom>
          </p:spPr>
        </p:pic>
      </p:grpSp>
      <p:sp>
        <p:nvSpPr>
          <p:cNvPr id="2" name="TextBox 1">
            <a:extLst>
              <a:ext uri="{FF2B5EF4-FFF2-40B4-BE49-F238E27FC236}">
                <a16:creationId xmlns:a16="http://schemas.microsoft.com/office/drawing/2014/main" id="{31A03472-0971-4282-8207-06337E796B5F}"/>
              </a:ext>
            </a:extLst>
          </p:cNvPr>
          <p:cNvSpPr txBox="1"/>
          <p:nvPr/>
        </p:nvSpPr>
        <p:spPr>
          <a:xfrm>
            <a:off x="9635068" y="6387583"/>
            <a:ext cx="2302932" cy="326371"/>
          </a:xfrm>
          <a:prstGeom prst="rect">
            <a:avLst/>
          </a:prstGeom>
          <a:noFill/>
        </p:spPr>
        <p:txBody>
          <a:bodyPr wrap="square" rtlCol="0">
            <a:spAutoFit/>
          </a:bodyPr>
          <a:lstStyle/>
          <a:p>
            <a:pPr marL="12700">
              <a:lnSpc>
                <a:spcPts val="1810"/>
              </a:lnSpc>
            </a:pPr>
            <a:r>
              <a:rPr lang="en-IN" spc="-25" dirty="0">
                <a:solidFill>
                  <a:schemeClr val="bg1"/>
                </a:solidFill>
                <a:latin typeface="Calibri Light"/>
                <a:cs typeface="Calibri Light"/>
                <a:hlinkClick r:id="rId3">
                  <a:extLst>
                    <a:ext uri="{A12FA001-AC4F-418D-AE19-62706E023703}">
                      <ahyp:hlinkClr xmlns:ahyp="http://schemas.microsoft.com/office/drawing/2018/hyperlinkcolor" val="tx"/>
                    </a:ext>
                  </a:extLst>
                </a:hlinkClick>
              </a:rPr>
              <a:t>www.cambridge.edu.in</a:t>
            </a:r>
            <a:endParaRPr lang="en-IN" dirty="0">
              <a:solidFill>
                <a:schemeClr val="bg1"/>
              </a:solidFill>
              <a:latin typeface="Calibri Light"/>
              <a:cs typeface="Calibri Light"/>
            </a:endParaRPr>
          </a:p>
        </p:txBody>
      </p:sp>
      <p:sp>
        <p:nvSpPr>
          <p:cNvPr id="8" name="TextBox 7">
            <a:extLst>
              <a:ext uri="{FF2B5EF4-FFF2-40B4-BE49-F238E27FC236}">
                <a16:creationId xmlns:a16="http://schemas.microsoft.com/office/drawing/2014/main" id="{EBC9BB28-917B-ECE9-1FD3-5400190588F3}"/>
              </a:ext>
            </a:extLst>
          </p:cNvPr>
          <p:cNvSpPr txBox="1"/>
          <p:nvPr/>
        </p:nvSpPr>
        <p:spPr>
          <a:xfrm>
            <a:off x="254000" y="6390789"/>
            <a:ext cx="4969933" cy="323165"/>
          </a:xfrm>
          <a:prstGeom prst="rect">
            <a:avLst/>
          </a:prstGeom>
          <a:noFill/>
        </p:spPr>
        <p:txBody>
          <a:bodyPr wrap="square" rtlCol="0">
            <a:spAutoFit/>
          </a:bodyPr>
          <a:lstStyle/>
          <a:p>
            <a:pPr marL="12700">
              <a:lnSpc>
                <a:spcPts val="1810"/>
              </a:lnSpc>
            </a:pPr>
            <a:r>
              <a:rPr lang="en-US" i="1" spc="-25">
                <a:solidFill>
                  <a:schemeClr val="bg1"/>
                </a:solidFill>
                <a:latin typeface="Times New Roman" panose="02020603050405020304" pitchFamily="18" charset="0"/>
                <a:cs typeface="Times New Roman" panose="02020603050405020304" pitchFamily="18" charset="0"/>
              </a:rPr>
              <a:t>Department</a:t>
            </a:r>
            <a:r>
              <a:rPr lang="en-US" i="1" spc="-50">
                <a:solidFill>
                  <a:schemeClr val="bg1"/>
                </a:solidFill>
                <a:latin typeface="Times New Roman" panose="02020603050405020304" pitchFamily="18" charset="0"/>
                <a:cs typeface="Times New Roman" panose="02020603050405020304" pitchFamily="18" charset="0"/>
              </a:rPr>
              <a:t> </a:t>
            </a:r>
            <a:r>
              <a:rPr lang="en-US" i="1">
                <a:solidFill>
                  <a:schemeClr val="bg1"/>
                </a:solidFill>
                <a:latin typeface="Times New Roman" panose="02020603050405020304" pitchFamily="18" charset="0"/>
                <a:cs typeface="Times New Roman" panose="02020603050405020304" pitchFamily="18" charset="0"/>
              </a:rPr>
              <a:t>of</a:t>
            </a:r>
            <a:r>
              <a:rPr lang="en-US" i="1" spc="-10">
                <a:solidFill>
                  <a:schemeClr val="bg1"/>
                </a:solidFill>
                <a:latin typeface="Times New Roman" panose="02020603050405020304" pitchFamily="18" charset="0"/>
                <a:cs typeface="Times New Roman" panose="02020603050405020304" pitchFamily="18" charset="0"/>
              </a:rPr>
              <a:t>  Computer Science and </a:t>
            </a:r>
            <a:r>
              <a:rPr lang="en-US" spc="-10">
                <a:solidFill>
                  <a:schemeClr val="bg1"/>
                </a:solidFill>
                <a:latin typeface="Times New Roman" panose="02020603050405020304" pitchFamily="18" charset="0"/>
                <a:cs typeface="Times New Roman" panose="02020603050405020304" pitchFamily="18" charset="0"/>
              </a:rPr>
              <a:t>Engineering</a:t>
            </a:r>
            <a:endParaRPr lang="en-US" spc="-1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9649456-F898-E04E-72D1-08FCE800C703}"/>
              </a:ext>
            </a:extLst>
          </p:cNvPr>
          <p:cNvSpPr txBox="1"/>
          <p:nvPr/>
        </p:nvSpPr>
        <p:spPr>
          <a:xfrm>
            <a:off x="3048000" y="2721114"/>
            <a:ext cx="6096000"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99420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2003</TotalTime>
  <Words>1004</Words>
  <Application>Microsoft Office PowerPoint</Application>
  <PresentationFormat>Widescreen</PresentationFormat>
  <Paragraphs>96</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Shubda Lade</dc:creator>
  <cp:lastModifiedBy>Shubda Lade</cp:lastModifiedBy>
  <cp:revision>2</cp:revision>
  <dcterms:created xsi:type="dcterms:W3CDTF">2025-08-24T05:33:06Z</dcterms:created>
  <dcterms:modified xsi:type="dcterms:W3CDTF">2025-09-05T05:38:19Z</dcterms:modified>
</cp:coreProperties>
</file>